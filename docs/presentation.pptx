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7.xml" ContentType="application/vnd.openxmlformats-officedocument.presentationml.notesSlid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/>
  <p:notesSz cx="5143500" cy="91440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Ошибки в словах (WER), % — меньше лучше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WER, %</c:v>
                </c:pt>
              </c:strCache>
            </c:strRef>
          </c:tx>
          <c:spPr bwMode="auto">
            <a:prstGeom prst="rect">
              <a:avLst/>
            </a:prstGeom>
            <a:solidFill>
              <a:srgbClr val="E4572E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E4572E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6C7AE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9AA0C4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2BB3A3"/>
              </a:solidFill>
              <a:effectLst/>
            </c:spPr>
          </c:dPt>
          <c:dLbls>
            <c:numFmt formatCode="0.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200" b="0" i="0" u="none" strike="noStrike">
                    <a:solidFill>
                      <a:srgbClr val="1B1F3B"/>
                    </a:solidFill>
                    <a:latin typeface="+mn-lt"/>
                  </a:defRPr>
                </a:pPr>
                <a:endParaRPr/>
              </a:p>
            </c:txPr>
          </c:dLbls>
          <c:cat>
            <c:multiLvlStrRef>
              <c:f>Sheet1!$A$2:$A$5</c:f>
              <c:multiLvlStrCache>
                <c:ptCount val="4"/>
                <c:lvl>
                  <c:pt idx="0">
                    <c:v>eSpeak</c:v>
                  </c:pt>
                  <c:pt idx="1">
                    <c:v>Piper</c:v>
                  </c:pt>
                  <c:pt idx="2">
                    <c:v>Kokoro без подг.</c:v>
                  </c:pt>
                  <c:pt idx="3">
                    <c:v>Kokoro с подг.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12.5</c:v>
                </c:pt>
                <c:pt idx="1">
                  <c:v>2.5</c:v>
                </c:pt>
                <c:pt idx="2">
                  <c:v>3.6</c:v>
                </c:pt>
                <c:pt idx="3">
                  <c:v>1.1</c:v>
                </c:pt>
              </c:numCache>
            </c:numRef>
          </c:val>
        </c:ser>
        <c:dLbls>
          <c:numFmt formatCode="0.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200" b="0" i="0" u="none" strike="noStrike">
                  <a:solidFill>
                    <a:srgbClr val="1B1F3B"/>
                  </a:solidFill>
                  <a:latin typeface="+mn-lt"/>
                </a:defRPr>
              </a:pPr>
              <a:endParaRPr/>
            </a:p>
          </c:txPr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F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0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F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.000000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>
      <a:off x="548640" y="1325880"/>
      <a:ext cx="3931920" cy="2926080"/>
    </a:xfrm>
    <a:prstGeom prst="rect">
      <a:avLst/>
    </a:prstGeom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3B"/>
                </a:solidFill>
                <a:latin typeface="+mn-lt"/>
              </a:rPr>
              <a:t>Естественность на слух, 1–5 — больше лучше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Естественность</c:v>
                </c:pt>
              </c:strCache>
            </c:strRef>
          </c:tx>
          <c:spPr bwMode="auto">
            <a:prstGeom prst="rect">
              <a:avLst/>
            </a:prstGeom>
            <a:solidFill>
              <a:srgbClr val="E4572E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E4572E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6C7AE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9AA0C4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2BB3A3"/>
              </a:solidFill>
              <a:effectLst/>
            </c:spPr>
          </c:dPt>
          <c:dLbls>
            <c:numFmt formatCode="0.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200" b="0" i="0" u="none" strike="noStrike">
                    <a:solidFill>
                      <a:srgbClr val="1B1F3B"/>
                    </a:solidFill>
                    <a:latin typeface="+mn-lt"/>
                  </a:defRPr>
                </a:pPr>
                <a:endParaRPr/>
              </a:p>
            </c:txPr>
          </c:dLbls>
          <c:cat>
            <c:multiLvlStrRef>
              <c:f>Sheet1!$A$2:$A$5</c:f>
              <c:multiLvlStrCache>
                <c:ptCount val="4"/>
                <c:lvl>
                  <c:pt idx="0">
                    <c:v>eSpeak</c:v>
                  </c:pt>
                  <c:pt idx="1">
                    <c:v>Piper</c:v>
                  </c:pt>
                  <c:pt idx="2">
                    <c:v>Kokoro без подг.</c:v>
                  </c:pt>
                  <c:pt idx="3">
                    <c:v>Kokoro с подг.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3.17</c:v>
                </c:pt>
                <c:pt idx="2">
                  <c:v>4.67</c:v>
                </c:pt>
                <c:pt idx="3">
                  <c:v>5</c:v>
                </c:pt>
              </c:numCache>
            </c:numRef>
          </c:val>
        </c:ser>
        <c:dLbls>
          <c:numFmt formatCode="0.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200" b="0" i="0" u="none" strike="noStrike">
                  <a:solidFill>
                    <a:srgbClr val="1B1F3B"/>
                  </a:solidFill>
                  <a:latin typeface="+mn-lt"/>
                </a:defRPr>
              </a:pPr>
              <a:endParaRPr/>
            </a:p>
          </c:txPr>
        </c:dLbls>
        <c:gapWidth val="6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F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0E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F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>
      <a:off x="4663440" y="1325880"/>
      <a:ext cx="3931920" cy="2926080"/>
    </a:xfrm>
    <a:prstGeom prst="rect">
      <a:avLst/>
    </a:prstGeom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Приветствие. Проект: озвучка документов с естественным голосом, бесплатно, с расчётами на устройстве пользователя. Тип проекта: гибридный (продукт + эксперимент).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Три требования: бесплатно, быстро, естественно. Классический eSpeak бесплатен и быстр, но звучит как робот.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Сценарий: отправил файл, текст подготовился, Kokoro озвучил, слушаю с подсветкой предложения. Поддерживаются txt, md, pdf.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Два пути: Mini App считает на устройстве пользователя (текст не уходит), бот считает на моём компьютере (быстрее на слабом телефоне). Общие правила подготовки текста в Python и JS, тесты проверяют их одними и теми же случаями.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Протокол: 22 предложения, 4 системы, метрики: WER через Whisper, скорость, самая длинная пауза, оценка на слух вслепую (24 клипа).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Kokoro лучше всех по естественности (5,0 против 3,2 и 1,0). По WER Kokoro с подготовкой текста 1,1%. Цена: скорость около 3x реального времени. Оценка на слух: один оценщик.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Подготовка текста: на временах WER с 17% до 2,1%, пауза на двоеточии пропадает. Дёшево и измеримо.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Ошибки, найденные в работе: часть нашёл человек (телефон, пауза, кнопка, CI), часть агент (стек Windows, метрика). Все превращены в тесты или документированы.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Честно об ограничениях: скорость на телефоне не измерена, один оценщик, только английский, нет OCR. Дальше: задачи T-01...T-06.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Роли: человек ставит цели, решает, тестирует на устройствах, оценивает звук; агент пишет код, тесты, документы. Платных ресурсов нет. Вопросы.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200" b="1">
                <a:solidFill>
                  <a:schemeClr val="bg1"/>
                </a:solidFill>
                <a:latin typeface="Cambria"/>
                <a:ea typeface="Cambria"/>
                <a:cs typeface="Cambria"/>
              </a:defRPr>
            </a:lvl1pPr>
          </a:lstStyle>
          <a:p>
            <a:pPr marL="0" indent="0" algn="l">
              <a:buNone/>
              <a:defRPr/>
            </a:pPr>
            <a:endParaRPr lang="en-US" sz="4200"/>
          </a:p>
        </p:txBody>
      </p:sp>
      <p:sp>
        <p:nvSpPr>
          <p:cNvPr id="3" name="Text 0"/>
          <p:cNvSpPr/>
          <p:nvPr>
            <p:ph type="body" idx="101" hasCustomPrompt="1"/>
          </p:nvPr>
        </p:nvSpPr>
        <p:spPr bwMode="auto"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800">
                <a:solidFill>
                  <a:schemeClr val="bg2"/>
                </a:solidFill>
              </a:defRPr>
            </a:lvl1pPr>
          </a:lstStyle>
          <a:p>
            <a:pPr marL="0" indent="0">
              <a:buNone/>
              <a:defRPr/>
            </a:pPr>
            <a:endParaRPr lang="en-US" sz="18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defRPr>
            </a:lvl1pPr>
          </a:lstStyle>
          <a:p>
            <a:pPr marL="0" indent="0">
              <a:buNone/>
              <a:defRPr/>
            </a:pPr>
            <a:endParaRPr lang="en-US" sz="3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LOSING">
    <p:bg>
      <p:bgPr shadeToTitle="0">
        <a:solidFill>
          <a:schemeClr val="tx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>
                <a:solidFill>
                  <a:schemeClr val="bg1"/>
                </a:solidFill>
                <a:latin typeface="Cambria"/>
                <a:ea typeface="Cambria"/>
                <a:cs typeface="Cambria"/>
              </a:defRPr>
            </a:lvl1pPr>
          </a:lstStyle>
          <a:p>
            <a:pPr marL="0" indent="0">
              <a:buNone/>
              <a:defRPr/>
            </a:pPr>
            <a:endParaRPr lang="en-US" sz="32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 /><Relationship Id="rId4" Type="http://schemas.openxmlformats.org/officeDocument/2006/relationships/chart" Target="../charts/chart2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  <a:defRPr/>
            </a:pPr>
            <a:r>
              <a:rPr lang="en-US" sz="4200" b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Kokoro Reader</a:t>
            </a:r>
            <a:endParaRPr lang="en-US" sz="4200"/>
          </a:p>
        </p:txBody>
      </p:sp>
      <p:sp>
        <p:nvSpPr>
          <p:cNvPr id="3" name="Text 0"/>
          <p:cNvSpPr/>
          <p:nvPr>
            <p:ph type="body" idx="101" hasCustomPrompt="1"/>
          </p:nvPr>
        </p:nvSpPr>
        <p:spPr bwMode="auto">
          <a:xfrm>
            <a:off x="548640" y="29260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  <a:defRPr/>
            </a:pPr>
            <a:r>
              <a:rPr lang="en-US" sz="1800">
                <a:solidFill>
                  <a:schemeClr val="bg2"/>
                </a:solidFill>
              </a:rPr>
              <a:t>Озвучка документов в Telegram с расчётами на устройстве пользователя</a:t>
            </a:r>
            <a:endParaRPr lang="en-US" sz="1800"/>
          </a:p>
          <a:p>
            <a:pPr marL="0" indent="0">
              <a:buNone/>
              <a:defRPr/>
            </a:pPr>
            <a:r>
              <a:rPr lang="en-US" sz="1800">
                <a:solidFill>
                  <a:schemeClr val="bg2"/>
                </a:solidFill>
              </a:rPr>
              <a:t>Maryna Maksimava · гибридный проект</a:t>
            </a:r>
            <a:endParaRPr lang="en-US" sz="1800"/>
          </a:p>
        </p:txBody>
      </p:sp>
      <p:sp>
        <p:nvSpPr>
          <p:cNvPr id="4" name="Shape 2"/>
          <p:cNvSpPr/>
          <p:nvPr/>
        </p:nvSpPr>
        <p:spPr bwMode="auto">
          <a:xfrm>
            <a:off x="7040880" y="457200"/>
            <a:ext cx="1463040" cy="14630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Shape 3"/>
          <p:cNvSpPr/>
          <p:nvPr/>
        </p:nvSpPr>
        <p:spPr bwMode="auto">
          <a:xfrm>
            <a:off x="7406640" y="822960"/>
            <a:ext cx="731520" cy="73152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Слушать документы вместо чтения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4630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 bwMode="auto">
          <a:xfrm>
            <a:off x="7772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1"/>
                </a:solidFill>
                <a:latin typeface="Cambria"/>
                <a:ea typeface="Cambria"/>
                <a:cs typeface="Cambria"/>
              </a:rPr>
              <a:t>01</a:t>
            </a:r>
            <a:endParaRPr lang="en-US" sz="4000"/>
          </a:p>
        </p:txBody>
      </p:sp>
      <p:sp>
        <p:nvSpPr>
          <p:cNvPr id="5" name="Text 3"/>
          <p:cNvSpPr txBox="1"/>
          <p:nvPr/>
        </p:nvSpPr>
        <p:spPr bwMode="auto">
          <a:xfrm>
            <a:off x="7772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Бесплатно</a:t>
            </a:r>
            <a:endParaRPr lang="en-US" sz="2200"/>
          </a:p>
        </p:txBody>
      </p:sp>
      <p:sp>
        <p:nvSpPr>
          <p:cNvPr id="6" name="Text 4"/>
          <p:cNvSpPr txBox="1"/>
          <p:nvPr/>
        </p:nvSpPr>
        <p:spPr bwMode="auto">
          <a:xfrm>
            <a:off x="777240" y="3017519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Открытая модель Kokoro-82M, без платных API и подписок</a:t>
            </a:r>
            <a:endParaRPr lang="en-US" sz="1400"/>
          </a:p>
        </p:txBody>
      </p:sp>
      <p:sp>
        <p:nvSpPr>
          <p:cNvPr id="7" name="Shape 5"/>
          <p:cNvSpPr/>
          <p:nvPr/>
        </p:nvSpPr>
        <p:spPr bwMode="auto">
          <a:xfrm>
            <a:off x="3291840" y="14630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 bwMode="auto">
          <a:xfrm>
            <a:off x="35204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02</a:t>
            </a:r>
            <a:endParaRPr lang="en-US" sz="4000"/>
          </a:p>
        </p:txBody>
      </p:sp>
      <p:sp>
        <p:nvSpPr>
          <p:cNvPr id="9" name="Text 7"/>
          <p:cNvSpPr txBox="1"/>
          <p:nvPr/>
        </p:nvSpPr>
        <p:spPr bwMode="auto">
          <a:xfrm>
            <a:off x="35204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Быстро</a:t>
            </a:r>
            <a:endParaRPr lang="en-US" sz="2200"/>
          </a:p>
        </p:txBody>
      </p:sp>
      <p:sp>
        <p:nvSpPr>
          <p:cNvPr id="10" name="Text 8"/>
          <p:cNvSpPr txBox="1"/>
          <p:nvPr/>
        </p:nvSpPr>
        <p:spPr bwMode="auto">
          <a:xfrm>
            <a:off x="3520440" y="3017519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Около 3× реального времени на обычном процессоре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 bwMode="auto">
          <a:xfrm>
            <a:off x="6035039" y="146304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 bwMode="auto">
          <a:xfrm>
            <a:off x="6263640" y="16459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000" b="1">
                <a:solidFill>
                  <a:schemeClr val="accent4"/>
                </a:solidFill>
                <a:latin typeface="Cambria"/>
                <a:ea typeface="Cambria"/>
                <a:cs typeface="Cambria"/>
              </a:rPr>
              <a:t>03</a:t>
            </a:r>
            <a:endParaRPr lang="en-US" sz="4000"/>
          </a:p>
        </p:txBody>
      </p:sp>
      <p:sp>
        <p:nvSpPr>
          <p:cNvPr id="13" name="Text 11"/>
          <p:cNvSpPr txBox="1"/>
          <p:nvPr/>
        </p:nvSpPr>
        <p:spPr bwMode="auto">
          <a:xfrm>
            <a:off x="6263640" y="24688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Естественно</a:t>
            </a:r>
            <a:endParaRPr lang="en-US" sz="2200"/>
          </a:p>
        </p:txBody>
      </p:sp>
      <p:sp>
        <p:nvSpPr>
          <p:cNvPr id="14" name="Text 12"/>
          <p:cNvSpPr txBox="1"/>
          <p:nvPr/>
        </p:nvSpPr>
        <p:spPr bwMode="auto">
          <a:xfrm>
            <a:off x="6263640" y="3017519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Речь, которую приятно слушать, а не «робот»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Сценарий пользователя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55448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 bwMode="auto">
          <a:xfrm>
            <a:off x="731520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 bwMode="auto">
          <a:xfrm>
            <a:off x="7315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1</a:t>
            </a:r>
            <a:endParaRPr lang="en-US" sz="1800"/>
          </a:p>
        </p:txBody>
      </p:sp>
      <p:sp>
        <p:nvSpPr>
          <p:cNvPr id="6" name="Text 4"/>
          <p:cNvSpPr txBox="1"/>
          <p:nvPr/>
        </p:nvSpPr>
        <p:spPr bwMode="auto">
          <a:xfrm>
            <a:off x="731520" y="2468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1"/>
                </a:solidFill>
              </a:rPr>
              <a:t>Отправить файл</a:t>
            </a:r>
            <a:endParaRPr lang="en-US" sz="1600"/>
          </a:p>
        </p:txBody>
      </p:sp>
      <p:sp>
        <p:nvSpPr>
          <p:cNvPr id="7" name="Text 5"/>
          <p:cNvSpPr txBox="1"/>
          <p:nvPr/>
        </p:nvSpPr>
        <p:spPr bwMode="auto">
          <a:xfrm>
            <a:off x="731520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.txt, .md, .pdf</a:t>
            </a:r>
            <a:endParaRPr lang="en-US" sz="1400"/>
          </a:p>
        </p:txBody>
      </p:sp>
      <p:sp>
        <p:nvSpPr>
          <p:cNvPr id="8" name="Text 6"/>
          <p:cNvSpPr txBox="1"/>
          <p:nvPr/>
        </p:nvSpPr>
        <p:spPr bwMode="auto">
          <a:xfrm>
            <a:off x="2404872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>
                <a:solidFill>
                  <a:schemeClr val="accent5"/>
                </a:solidFill>
              </a:rPr>
              <a:t>›</a:t>
            </a:r>
            <a:endParaRPr lang="en-US" sz="2800"/>
          </a:p>
        </p:txBody>
      </p:sp>
      <p:sp>
        <p:nvSpPr>
          <p:cNvPr id="9" name="Shape 7"/>
          <p:cNvSpPr/>
          <p:nvPr/>
        </p:nvSpPr>
        <p:spPr bwMode="auto">
          <a:xfrm>
            <a:off x="2624328" y="155448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 bwMode="auto">
          <a:xfrm>
            <a:off x="2807208" y="17373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 bwMode="auto">
          <a:xfrm>
            <a:off x="2807208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2</a:t>
            </a:r>
            <a:endParaRPr lang="en-US" sz="1800"/>
          </a:p>
        </p:txBody>
      </p:sp>
      <p:sp>
        <p:nvSpPr>
          <p:cNvPr id="12" name="Text 10"/>
          <p:cNvSpPr txBox="1"/>
          <p:nvPr/>
        </p:nvSpPr>
        <p:spPr bwMode="auto">
          <a:xfrm>
            <a:off x="2807208" y="2468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1"/>
                </a:solidFill>
              </a:rPr>
              <a:t>Подготовка текста</a:t>
            </a:r>
            <a:endParaRPr lang="en-US" sz="1600"/>
          </a:p>
        </p:txBody>
      </p:sp>
      <p:sp>
        <p:nvSpPr>
          <p:cNvPr id="13" name="Text 11"/>
          <p:cNvSpPr txBox="1"/>
          <p:nvPr/>
        </p:nvSpPr>
        <p:spPr bwMode="auto">
          <a:xfrm>
            <a:off x="2807208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заголовки, абзацы, «7:30»</a:t>
            </a:r>
            <a:endParaRPr lang="en-US" sz="1400"/>
          </a:p>
        </p:txBody>
      </p:sp>
      <p:sp>
        <p:nvSpPr>
          <p:cNvPr id="14" name="Text 12"/>
          <p:cNvSpPr txBox="1"/>
          <p:nvPr/>
        </p:nvSpPr>
        <p:spPr bwMode="auto">
          <a:xfrm>
            <a:off x="4480560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>
                <a:solidFill>
                  <a:schemeClr val="accent5"/>
                </a:solidFill>
              </a:rPr>
              <a:t>›</a:t>
            </a:r>
            <a:endParaRPr lang="en-US" sz="2800"/>
          </a:p>
        </p:txBody>
      </p:sp>
      <p:sp>
        <p:nvSpPr>
          <p:cNvPr id="15" name="Shape 13"/>
          <p:cNvSpPr/>
          <p:nvPr/>
        </p:nvSpPr>
        <p:spPr bwMode="auto">
          <a:xfrm>
            <a:off x="4700016" y="155448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 bwMode="auto">
          <a:xfrm>
            <a:off x="4882896" y="17373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 bwMode="auto">
          <a:xfrm>
            <a:off x="4882896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3</a:t>
            </a:r>
            <a:endParaRPr lang="en-US" sz="1800"/>
          </a:p>
        </p:txBody>
      </p:sp>
      <p:sp>
        <p:nvSpPr>
          <p:cNvPr id="18" name="Text 16"/>
          <p:cNvSpPr txBox="1"/>
          <p:nvPr/>
        </p:nvSpPr>
        <p:spPr bwMode="auto">
          <a:xfrm>
            <a:off x="4882896" y="2468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1"/>
                </a:solidFill>
              </a:rPr>
              <a:t>Синтез Kokoro</a:t>
            </a:r>
            <a:endParaRPr lang="en-US" sz="1600"/>
          </a:p>
        </p:txBody>
      </p:sp>
      <p:sp>
        <p:nvSpPr>
          <p:cNvPr id="19" name="Text 17"/>
          <p:cNvSpPr txBox="1"/>
          <p:nvPr/>
        </p:nvSpPr>
        <p:spPr bwMode="auto">
          <a:xfrm>
            <a:off x="4882896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на устройстве или на ПК</a:t>
            </a:r>
            <a:endParaRPr lang="en-US" sz="1400"/>
          </a:p>
        </p:txBody>
      </p:sp>
      <p:sp>
        <p:nvSpPr>
          <p:cNvPr id="20" name="Text 18"/>
          <p:cNvSpPr txBox="1"/>
          <p:nvPr/>
        </p:nvSpPr>
        <p:spPr bwMode="auto">
          <a:xfrm>
            <a:off x="6556248" y="237744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800">
                <a:solidFill>
                  <a:schemeClr val="accent5"/>
                </a:solidFill>
              </a:rPr>
              <a:t>›</a:t>
            </a:r>
            <a:endParaRPr lang="en-US" sz="2800"/>
          </a:p>
        </p:txBody>
      </p:sp>
      <p:sp>
        <p:nvSpPr>
          <p:cNvPr id="21" name="Shape 19"/>
          <p:cNvSpPr/>
          <p:nvPr/>
        </p:nvSpPr>
        <p:spPr bwMode="auto">
          <a:xfrm>
            <a:off x="6775704" y="1554480"/>
            <a:ext cx="1874520" cy="2286000"/>
          </a:xfrm>
          <a:prstGeom prst="roundRect">
            <a:avLst>
              <a:gd name="adj" fmla="val 58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 bwMode="auto">
          <a:xfrm>
            <a:off x="6958584" y="1737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 bwMode="auto">
          <a:xfrm>
            <a:off x="6958584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4</a:t>
            </a:r>
            <a:endParaRPr lang="en-US" sz="1800"/>
          </a:p>
        </p:txBody>
      </p:sp>
      <p:sp>
        <p:nvSpPr>
          <p:cNvPr id="24" name="Text 22"/>
          <p:cNvSpPr txBox="1"/>
          <p:nvPr/>
        </p:nvSpPr>
        <p:spPr bwMode="auto">
          <a:xfrm>
            <a:off x="6958584" y="24688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chemeClr val="tx1"/>
                </a:solidFill>
              </a:rPr>
              <a:t>Слушать</a:t>
            </a:r>
            <a:endParaRPr lang="en-US" sz="1600"/>
          </a:p>
        </p:txBody>
      </p:sp>
      <p:sp>
        <p:nvSpPr>
          <p:cNvPr id="25" name="Text 23"/>
          <p:cNvSpPr txBox="1"/>
          <p:nvPr/>
        </p:nvSpPr>
        <p:spPr bwMode="auto">
          <a:xfrm>
            <a:off x="6958584" y="3108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подсветка предложения</a:t>
            </a:r>
            <a:endParaRPr lang="en-US" sz="1400"/>
          </a:p>
        </p:txBody>
      </p:sp>
      <p:sp>
        <p:nvSpPr>
          <p:cNvPr id="26" name="Text 24"/>
          <p:cNvSpPr txBox="1"/>
          <p:nvPr/>
        </p:nvSpPr>
        <p:spPr bwMode="auto"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Паузы на абзацах и заголовках · файл на 30 с озвучивается за 9 с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Два пути, одни правила текста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371600"/>
            <a:ext cx="3886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 bwMode="auto">
          <a:xfrm>
            <a:off x="77724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Mini App</a:t>
            </a:r>
            <a:endParaRPr lang="en-US" sz="2200"/>
          </a:p>
        </p:txBody>
      </p:sp>
      <p:sp>
        <p:nvSpPr>
          <p:cNvPr id="5" name="Text 3"/>
          <p:cNvSpPr txBox="1"/>
          <p:nvPr/>
        </p:nvSpPr>
        <p:spPr bwMode="auto">
          <a:xfrm>
            <a:off x="777240" y="201168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Считает на устройстве пользователя</a:t>
            </a:r>
            <a:endParaRPr lang="en-US" sz="14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Текст никуда не уходит</a:t>
            </a:r>
            <a:endParaRPr lang="en-US" sz="14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WebGPU или WASM, GitHub Pages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 bwMode="auto">
          <a:xfrm>
            <a:off x="4709160" y="1371600"/>
            <a:ext cx="388620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 bwMode="auto">
          <a:xfrm>
            <a:off x="493776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Telegram-бот</a:t>
            </a:r>
            <a:endParaRPr lang="en-US" sz="2200"/>
          </a:p>
        </p:txBody>
      </p:sp>
      <p:sp>
        <p:nvSpPr>
          <p:cNvPr id="8" name="Text 6"/>
          <p:cNvSpPr txBox="1"/>
          <p:nvPr/>
        </p:nvSpPr>
        <p:spPr bwMode="auto">
          <a:xfrm>
            <a:off x="4937760" y="201168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Считает на ПК владельца</a:t>
            </a:r>
            <a:endParaRPr lang="en-US" sz="14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Прогресс, список разрешённых ID</a:t>
            </a:r>
            <a:endParaRPr lang="en-US" sz="1400"/>
          </a:p>
          <a:p>
            <a:pPr marL="342900" indent="-342900">
              <a:spcAft>
                <a:spcPts val="600"/>
              </a:spcAft>
              <a:buSzPct val="100000"/>
              <a:buChar char="•"/>
              <a:defRPr/>
            </a:pPr>
            <a:r>
              <a:rPr lang="en-US" sz="1400">
                <a:solidFill>
                  <a:schemeClr val="tx2"/>
                </a:solidFill>
              </a:rPr>
              <a:t>Файл .ogg в ответ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 bwMode="auto">
          <a:xfrm>
            <a:off x="548640" y="3749040"/>
            <a:ext cx="804672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 bwMode="auto">
          <a:xfrm>
            <a:off x="777240" y="374904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1"/>
                </a:solidFill>
              </a:rPr>
              <a:t>Общее: подготовка текста + модель Kokoro-82M · одни эталонные тесты в Python и JS · CI на GitHub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Эксперимент: что и как измеряли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371600"/>
            <a:ext cx="3886200" cy="3017519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 bwMode="auto">
          <a:xfrm>
            <a:off x="77724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4 системы</a:t>
            </a:r>
            <a:endParaRPr lang="en-US" sz="2200"/>
          </a:p>
        </p:txBody>
      </p:sp>
      <p:sp>
        <p:nvSpPr>
          <p:cNvPr id="5" name="Text 3"/>
          <p:cNvSpPr txBox="1"/>
          <p:nvPr/>
        </p:nvSpPr>
        <p:spPr bwMode="auto">
          <a:xfrm>
            <a:off x="777240" y="205740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eSpeak NG: baseline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Piper lessac-medium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Kokoro без подготовки текста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Kokoro с подготовкой текста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 bwMode="auto">
          <a:xfrm>
            <a:off x="4709160" y="1371600"/>
            <a:ext cx="3886200" cy="3017519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 bwMode="auto">
          <a:xfrm>
            <a:off x="493776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4 метрики, 22 предложения</a:t>
            </a:r>
            <a:endParaRPr lang="en-US" sz="2000"/>
          </a:p>
        </p:txBody>
      </p:sp>
      <p:sp>
        <p:nvSpPr>
          <p:cNvPr id="8" name="Text 6"/>
          <p:cNvSpPr txBox="1"/>
          <p:nvPr/>
        </p:nvSpPr>
        <p:spPr bwMode="auto">
          <a:xfrm>
            <a:off x="4937760" y="205740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WER: синтез → Whisper → слова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Скорость, × реального времени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Самая длинная пауза в клипе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Оценка на слух вслепую, 24 клипа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Kokoro звучит естественнее всех</a:t>
            </a:r>
            <a:endParaRPr lang="en-US" sz="3200"/>
          </a:p>
        </p:txBody>
      </p:sp>
      <p:graphicFrame>
        <p:nvGraphicFramePr>
          <p:cNvPr id="3" name="Chart 0" descr=""/>
          <p:cNvGraphicFramePr>
            <a:graphicFrameLocks xmlns:a="http://schemas.openxmlformats.org/drawingml/2006/main"/>
          </p:cNvGraphicFramePr>
          <p:nvPr/>
        </p:nvGraphicFramePr>
        <p:xfrm>
          <a:off x="548640" y="1325880"/>
          <a:ext cx="393192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" name="Chart 1" descr=""/>
          <p:cNvGraphicFramePr>
            <a:graphicFrameLocks xmlns:a="http://schemas.openxmlformats.org/drawingml/2006/main"/>
          </p:cNvGraphicFramePr>
          <p:nvPr/>
        </p:nvGraphicFramePr>
        <p:xfrm>
          <a:off x="4663440" y="1325880"/>
          <a:ext cx="393192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 1"/>
          <p:cNvSpPr txBox="1"/>
          <p:nvPr/>
        </p:nvSpPr>
        <p:spPr bwMode="auto">
          <a:xfrm>
            <a:off x="548640" y="43891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tx2"/>
                </a:solidFill>
              </a:rPr>
              <a:t>Цена: скорость Kokoro ≈ 3× реального времени (Piper 24×, eSpeak 56×). Оценка на слух: один оценщик, 6 клипов на систему.</a:t>
            </a:r>
            <a:endParaRPr lang="en-US" sz="12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0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Подготовка текста решает «7:30»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371600"/>
            <a:ext cx="38862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 bwMode="auto">
          <a:xfrm>
            <a:off x="77724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chemeClr val="accent3"/>
                </a:solidFill>
                <a:latin typeface="Cambria"/>
                <a:ea typeface="Cambria"/>
                <a:cs typeface="Cambria"/>
              </a:rPr>
              <a:t>17% → 2,1%</a:t>
            </a:r>
            <a:endParaRPr lang="en-US" sz="4400"/>
          </a:p>
        </p:txBody>
      </p:sp>
      <p:sp>
        <p:nvSpPr>
          <p:cNvPr id="5" name="Text 3"/>
          <p:cNvSpPr txBox="1"/>
          <p:nvPr/>
        </p:nvSpPr>
        <p:spPr bwMode="auto">
          <a:xfrm>
            <a:off x="777240" y="25603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WER на предложениях со временем («7:30», «12:00»): без подготовки и с ней</a:t>
            </a:r>
            <a:endParaRPr lang="en-US" sz="1400"/>
          </a:p>
        </p:txBody>
      </p:sp>
      <p:sp>
        <p:nvSpPr>
          <p:cNvPr id="6" name="Shape 4"/>
          <p:cNvSpPr/>
          <p:nvPr/>
        </p:nvSpPr>
        <p:spPr bwMode="auto">
          <a:xfrm>
            <a:off x="4709160" y="1371600"/>
            <a:ext cx="38862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 bwMode="auto">
          <a:xfrm>
            <a:off x="4937760" y="1554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44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0,28 → 0,03 с</a:t>
            </a:r>
            <a:endParaRPr lang="en-US" sz="4400"/>
          </a:p>
        </p:txBody>
      </p:sp>
      <p:sp>
        <p:nvSpPr>
          <p:cNvPr id="8" name="Text 6"/>
          <p:cNvSpPr txBox="1"/>
          <p:nvPr/>
        </p:nvSpPr>
        <p:spPr bwMode="auto">
          <a:xfrm>
            <a:off x="4937760" y="256032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самая длинная пауза внутри клипа на «9:15» и «6:05»: пауза на двоеточии исчезает</a:t>
            </a:r>
            <a:endParaRPr lang="en-US" sz="1400"/>
          </a:p>
        </p:txBody>
      </p:sp>
      <p:sp>
        <p:nvSpPr>
          <p:cNvPr id="9" name="Text 7"/>
          <p:cNvSpPr txBox="1"/>
          <p:nvPr/>
        </p:nvSpPr>
        <p:spPr bwMode="auto"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1"/>
                </a:solidFill>
              </a:rPr>
              <a:t>Одна функция заменяет «7:30» на «7 30»; на слух без неё слышна странная пауза и ошибка чтения.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Анализ ошибок</a:t>
            </a:r>
            <a:endParaRPr lang="en-US" sz="3200"/>
          </a:p>
        </p:txBody>
      </p:sp>
      <p:graphicFrame>
        <p:nvGraphicFramePr>
          <p:cNvPr id="9" name="Table 0"/>
          <p:cNvGraphicFramePr>
            <a:graphicFrameLocks xmlns:a="http://schemas.openxmlformats.org/drawingml/2006/main" noGrp="1"/>
          </p:cNvGraphicFramePr>
          <p:nvPr/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Что произошло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Причина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Что сделали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Скрежет на телефоне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WebGPU на мобильном GPU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WASM на телефонах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Пауза на «7:30»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«:» читается как пауза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Время заменяется словами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Нет паузы после заголовка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PDF склеивал заголовок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Определение заголовков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Вылет бота на Windows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Малый стек потока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Потоки со стеком 64 МБ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«Elm St.» → «Elmsent»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Сокращение не раскрыто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1F3B"/>
                          </a:solidFill>
                        </a:rPr>
                        <a:t>Не исправлено</a:t>
                      </a:r>
                      <a:endParaRPr lang="en-US" sz="1400"/>
                    </a:p>
                  </a:txBody>
                  <a:tcPr marL="91440" marR="91440" marT="36576" marB="36576" anchor="ctr">
                    <a:lnL w="6350" algn="ctr">
                      <a:solidFill>
                        <a:srgbClr val="D5D8E8"/>
                      </a:solidFill>
                    </a:lnL>
                    <a:lnR w="6350" algn="ctr">
                      <a:solidFill>
                        <a:srgbClr val="D5D8E8"/>
                      </a:solidFill>
                    </a:lnR>
                    <a:lnT w="6350" algn="ctr">
                      <a:solidFill>
                        <a:srgbClr val="D5D8E8"/>
                      </a:solidFill>
                    </a:lnT>
                    <a:lnB w="6350" algn="ctr">
                      <a:solidFill>
                        <a:srgbClr val="D5D8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 bwMode="auto"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tx2"/>
                </a:solidFill>
              </a:rPr>
              <a:t>Каждая найденная ошибка превращена в тест или записана в ограничения.</a:t>
            </a:r>
            <a:endParaRPr lang="en-US" sz="14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tx1"/>
                </a:solidFill>
                <a:latin typeface="Cambria"/>
                <a:ea typeface="Cambria"/>
                <a:cs typeface="Cambria"/>
              </a:rPr>
              <a:t>Ограничения и что дальше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371600"/>
            <a:ext cx="3886200" cy="3017519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 bwMode="auto">
          <a:xfrm>
            <a:off x="77724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3"/>
                </a:solidFill>
                <a:latin typeface="Cambria"/>
                <a:ea typeface="Cambria"/>
                <a:cs typeface="Cambria"/>
              </a:rPr>
              <a:t>Ограничения</a:t>
            </a:r>
            <a:endParaRPr lang="en-US" sz="2000"/>
          </a:p>
        </p:txBody>
      </p:sp>
      <p:sp>
        <p:nvSpPr>
          <p:cNvPr id="5" name="Text 3"/>
          <p:cNvSpPr txBox="1"/>
          <p:nvPr/>
        </p:nvSpPr>
        <p:spPr bwMode="auto">
          <a:xfrm>
            <a:off x="777240" y="205740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Скорость на телефоне не измерена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Один оценщик, только английский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Нет OCR для сканов PDF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Бот работает, пока включён ПК</a:t>
            </a:r>
            <a:endParaRPr lang="en-US" sz="1600"/>
          </a:p>
        </p:txBody>
      </p:sp>
      <p:sp>
        <p:nvSpPr>
          <p:cNvPr id="6" name="Shape 4"/>
          <p:cNvSpPr/>
          <p:nvPr/>
        </p:nvSpPr>
        <p:spPr bwMode="auto">
          <a:xfrm>
            <a:off x="4709160" y="1371600"/>
            <a:ext cx="3886200" cy="3017519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 bwMode="auto">
          <a:xfrm>
            <a:off x="4937760" y="1508759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accent2"/>
                </a:solidFill>
                <a:latin typeface="Cambria"/>
                <a:ea typeface="Cambria"/>
                <a:cs typeface="Cambria"/>
              </a:rPr>
              <a:t>Дальше</a:t>
            </a:r>
            <a:endParaRPr lang="en-US" sz="2000"/>
          </a:p>
        </p:txBody>
      </p:sp>
      <p:sp>
        <p:nvSpPr>
          <p:cNvPr id="8" name="Text 6"/>
          <p:cNvSpPr txBox="1"/>
          <p:nvPr/>
        </p:nvSpPr>
        <p:spPr bwMode="auto">
          <a:xfrm>
            <a:off x="4937760" y="205740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Ускорить телефон (потоки WASM)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ru-RU" sz="1600">
                <a:solidFill>
                  <a:schemeClr val="tx2"/>
                </a:solidFill>
              </a:rPr>
              <a:t>Проигрывание</a:t>
            </a:r>
            <a:r>
              <a:rPr lang="ru-RU" sz="1600">
                <a:solidFill>
                  <a:schemeClr val="tx2"/>
                </a:solidFill>
              </a:rPr>
              <a:t> во время генерации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Словарь сокращений («St.»)</a:t>
            </a:r>
            <a:endParaRPr lang="en-US" sz="16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600">
                <a:solidFill>
                  <a:schemeClr val="tx2"/>
                </a:solidFill>
              </a:rPr>
              <a:t>EPUB, DOCX, Opus-голосовые</a:t>
            </a:r>
            <a:endParaRPr lang="en-US" sz="16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21039" y="4754880"/>
            <a:ext cx="457200" cy="22860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>
              <a:defRPr/>
            </a:pPr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 idx="100" hasCustomPrompt="1"/>
          </p:nvPr>
        </p:nvSpPr>
        <p:spPr bwMode="auto">
          <a:xfrm>
            <a:off x="548640" y="320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Кто что делал и сколько это стоило</a:t>
            </a:r>
            <a:endParaRPr lang="en-US" sz="3200"/>
          </a:p>
        </p:txBody>
      </p:sp>
      <p:sp>
        <p:nvSpPr>
          <p:cNvPr id="3" name="Shape 1"/>
          <p:cNvSpPr/>
          <p:nvPr/>
        </p:nvSpPr>
        <p:spPr bwMode="auto">
          <a:xfrm>
            <a:off x="5486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Shape 2"/>
          <p:cNvSpPr/>
          <p:nvPr/>
        </p:nvSpPr>
        <p:spPr bwMode="auto">
          <a:xfrm>
            <a:off x="777240" y="169164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 bwMode="auto">
          <a:xfrm>
            <a:off x="7772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Человек</a:t>
            </a:r>
            <a:endParaRPr lang="en-US" sz="2000"/>
          </a:p>
        </p:txBody>
      </p:sp>
      <p:sp>
        <p:nvSpPr>
          <p:cNvPr id="6" name="Text 4"/>
          <p:cNvSpPr txBox="1"/>
          <p:nvPr/>
        </p:nvSpPr>
        <p:spPr bwMode="auto">
          <a:xfrm>
            <a:off x="777240" y="27432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Цели и решения, создание бота и репозитория, тесты на телефоне, поиск ошибок, оценка звука на слух</a:t>
            </a:r>
            <a:endParaRPr lang="en-US" sz="1400"/>
          </a:p>
        </p:txBody>
      </p:sp>
      <p:sp>
        <p:nvSpPr>
          <p:cNvPr id="7" name="Shape 5"/>
          <p:cNvSpPr/>
          <p:nvPr/>
        </p:nvSpPr>
        <p:spPr bwMode="auto">
          <a:xfrm>
            <a:off x="3291840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Shape 6"/>
          <p:cNvSpPr/>
          <p:nvPr/>
        </p:nvSpPr>
        <p:spPr bwMode="auto">
          <a:xfrm>
            <a:off x="3520440" y="16916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 bwMode="auto">
          <a:xfrm>
            <a:off x="35204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AI-агент</a:t>
            </a:r>
            <a:endParaRPr lang="en-US" sz="2000"/>
          </a:p>
        </p:txBody>
      </p:sp>
      <p:sp>
        <p:nvSpPr>
          <p:cNvPr id="10" name="Text 8"/>
          <p:cNvSpPr txBox="1"/>
          <p:nvPr/>
        </p:nvSpPr>
        <p:spPr bwMode="auto">
          <a:xfrm>
            <a:off x="3520440" y="27432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Код, тесты, CI, эксперимент, документы; считает и честно сообщает, что не проверено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 bwMode="auto">
          <a:xfrm>
            <a:off x="6035039" y="1463040"/>
            <a:ext cx="2560320" cy="2834640"/>
          </a:xfrm>
          <a:prstGeom prst="roundRect">
            <a:avLst>
              <a:gd name="adj" fmla="val 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hape 10"/>
          <p:cNvSpPr/>
          <p:nvPr/>
        </p:nvSpPr>
        <p:spPr bwMode="auto">
          <a:xfrm>
            <a:off x="6263640" y="169164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 bwMode="auto">
          <a:xfrm>
            <a:off x="6263640" y="2240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 b="1">
                <a:solidFill>
                  <a:schemeClr val="bg1"/>
                </a:solidFill>
                <a:latin typeface="Cambria"/>
                <a:ea typeface="Cambria"/>
                <a:cs typeface="Cambria"/>
              </a:rPr>
              <a:t>Стоимость</a:t>
            </a:r>
            <a:endParaRPr lang="en-US" sz="2000"/>
          </a:p>
        </p:txBody>
      </p:sp>
      <p:sp>
        <p:nvSpPr>
          <p:cNvPr id="14" name="Text 12"/>
          <p:cNvSpPr txBox="1"/>
          <p:nvPr/>
        </p:nvSpPr>
        <p:spPr bwMode="auto">
          <a:xfrm>
            <a:off x="6263640" y="274320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chemeClr val="bg2"/>
                </a:solidFill>
              </a:rPr>
              <a:t>Платных облачных ресурсов нет: GitHub Pages, Actions и модель бесплатны</a:t>
            </a:r>
            <a:r>
              <a:rPr lang="ru-RU" sz="1400">
                <a:solidFill>
                  <a:schemeClr val="bg2"/>
                </a:solidFill>
              </a:rPr>
              <a:t>.</a:t>
            </a:r>
            <a:br>
              <a:rPr lang="ru-RU" sz="1400">
                <a:solidFill>
                  <a:schemeClr val="bg2"/>
                </a:solidFill>
              </a:rPr>
            </a:br>
            <a:r>
              <a:rPr lang="ru-RU" sz="1400">
                <a:solidFill>
                  <a:schemeClr val="bg2"/>
                </a:solidFill>
              </a:rPr>
              <a:t>Подписка на ИИ - 20 долларов.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Kokoro Reader">
  <a:themeElements>
    <a:clrScheme name="Kokoro Reader">
      <a:dk1>
        <a:srgbClr val="1B1F3B"/>
      </a:dk1>
      <a:lt1>
        <a:srgbClr val="FFFFFF"/>
      </a:lt1>
      <a:dk2>
        <a:srgbClr val="3A3F63"/>
      </a:dk2>
      <a:lt2>
        <a:srgbClr val="EEF0F8"/>
      </a:lt2>
      <a:accent1>
        <a:srgbClr val="F2A541"/>
      </a:accent1>
      <a:accent2>
        <a:srgbClr val="2BB3A3"/>
      </a:accent2>
      <a:accent3>
        <a:srgbClr val="E4572E"/>
      </a:accent3>
      <a:accent4>
        <a:srgbClr val="6C7AE0"/>
      </a:accent4>
      <a:accent5>
        <a:srgbClr val="9AA0C4"/>
      </a:accent5>
      <a:accent6>
        <a:srgbClr val="5B6B8C"/>
      </a:accent6>
      <a:hlink>
        <a:srgbClr val="4C6FFF"/>
      </a:hlink>
      <a:folHlink>
        <a:srgbClr val="7B61C4"/>
      </a:folHlink>
    </a:clrScheme>
    <a:fontScheme name="Kokoro Reader">
      <a:majorFont>
        <a:latin typeface="Cambria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ONLYOFFICE/8.2.0.143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Kokoro Reader: итоговая презентация</dc:title>
  <dc:subject>PptxGenJS Presentation</dc:subject>
  <dc:creator>Maryna Maksimava</dc:creator>
  <cp:lastModifiedBy/>
  <cp:revision>2</cp:revision>
  <dcterms:created xsi:type="dcterms:W3CDTF">2026-10-08T09:08:22Z</dcterms:created>
  <dcterms:modified xsi:type="dcterms:W3CDTF">2026-10-08T09:22:47Z</dcterms:modified>
</cp:coreProperties>
</file>